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71" r:id="rId25"/>
    <p:sldId id="272" r:id="rId26"/>
    <p:sldId id="273" r:id="rId27"/>
    <p:sldId id="27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9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9ABE-97C2-DE33-5065-54F11A1C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278B4-B4C2-8719-84E5-E811D4665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C271A-6DE9-0F99-4D3A-3C2E7B34F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2E8D4-6F5E-3E56-D799-9A92873699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6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62C7-33FA-4E26-5615-D1841083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A57B2-3C1A-4E52-6B93-4370FDFCC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D7947-A1D2-AF4F-647C-E38D45D60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75E8E-A77E-1BEB-7738-AAB12359F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93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227D-D666-B0E0-DA6E-271E1534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8DDC8-58DF-A220-C0C6-95C62BC01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563C6-B509-E9B6-1B74-427333B5B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FCB03-375F-B369-EBCA-CCEB2BE50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35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CC4F-172C-B0E3-2490-FAB8EF59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C67F9-FBBE-81BD-9025-EB55FFEDD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4079E-CA9A-9F72-7DFC-6C5A60F20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6EAAD-62FD-6C07-87D6-D6C2A21B4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8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923F-AA9A-AB98-1CB5-B5AFF20D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ADA0C-2CDC-4777-D1F8-9933F3E04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169D2-2F71-3367-6C1C-1439FCDD9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8FAEF-75E7-8C23-E0BC-D8E8F1B3DF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6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4EF6-E9D1-5791-BFE6-4F94C6D3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4B611-3DAC-0911-6A8F-FDF731BD8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21492-7701-3213-8494-CD7658A0B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B6ECB-5715-69EE-DAA9-8AB3E217D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66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4323-6765-6605-AE5C-6749F3276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4F0FE-C7A5-15B1-AC6D-26B89B34B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66D2A-B6B7-7159-DDEC-0D6046FD6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2718-B334-CE24-014E-47DFD611E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03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655E-E7BA-57B6-BA5D-DAB989AD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31C0D-A4E1-29AF-66F8-ED173A788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05BE4-7C25-AF9C-D8A3-BED5490A3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15FD6-2762-1493-7509-AC2B44F789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366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DF45-8EF2-42D8-C3BD-E84AEA72A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FB168-B8AF-7DF0-01E7-09E098DD0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47D4D-5F7D-3B4D-E0BB-5ADB85AA7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1DD1-F60A-F7C1-FA1F-8D14926F8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557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B71F-D03F-82C9-314D-BAE871C3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CA5ED-9B5D-2A8B-5612-4282BA1C0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2C0BC-C8EE-9606-661D-84FDAC13B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066FF-2B3E-38F8-C8E4-8C0690E6B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anikanta-7557/Fake-News-Detection-and-Verification-Too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anikanta-7557/Fake-News-Detection-and-Verification-Tool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119" y="498764"/>
            <a:ext cx="831273" cy="831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221" y="1803260"/>
            <a:ext cx="8644690" cy="610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Fake News Detection &amp;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Verification Tool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AI-Powered Solution for Combating Misinformation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828800" y="3652911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Manikanta Peddi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Year 2026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Vellore Institute of Technology – Andhra Pradesh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Software Engineering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86EE8-AE37-E6D5-82EE-4F4DCB90D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416" y="-69166"/>
            <a:ext cx="3329354" cy="2080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+mj-lt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40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Rapid Spread of Misinformation</a:t>
            </a:r>
            <a:endParaRPr lang="en-US" sz="18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88720" y="1600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Social media enables fake news to spread 6x faster than truth. Threatens public trust, safety, and democracy.</a:t>
            </a:r>
            <a:endParaRPr lang="en-US" sz="1300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4871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Manual Fact-Checking Cannot Scale</a:t>
            </a:r>
            <a:endParaRPr lang="en-US" sz="1800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88720" y="2788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Human verification is slow and labor-intensive. Cannot keep pace with digital content volume.</a:t>
            </a:r>
            <a:endParaRPr lang="en-US" sz="1300" dirty="0">
              <a:latin typeface="+mj-lt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758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AI-Powered Solution</a:t>
            </a:r>
            <a:endParaRPr lang="en-US" sz="1800" dirty="0">
              <a:latin typeface="+mj-lt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88720" y="3977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Automated, accurate, and real-time credibility assessment. Leverages NLP, Transformers, and Fact-Checking APIs.</a:t>
            </a:r>
            <a:endParaRPr lang="en-US" sz="1300" dirty="0">
              <a:latin typeface="+mj-lt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669280" y="1371600"/>
            <a:ext cx="2926080" cy="18288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66928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70%</a:t>
            </a:r>
            <a:endParaRPr lang="en-US" sz="6400" dirty="0">
              <a:latin typeface="+mj-lt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76072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of people have encountered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misinformation online</a:t>
            </a:r>
            <a:endParaRPr lang="en-US" sz="1400" dirty="0">
              <a:latin typeface="+mj-lt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669280" y="3474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+mj-lt"/>
                <a:ea typeface="Calibri" pitchFamily="34" charset="-122"/>
                <a:cs typeface="Calibri" pitchFamily="34" charset="-120"/>
              </a:rPr>
              <a:t>Impact Areas:</a:t>
            </a:r>
            <a:endParaRPr lang="en-US" sz="1400" dirty="0">
              <a:latin typeface="+mj-lt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66928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🗳️ Elections          🏥 Health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💼 Economy           ⚖️ Safety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256" y="284036"/>
            <a:ext cx="7329488" cy="488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65A82"/>
                </a:solidFill>
                <a:latin typeface="+mj-lt"/>
                <a:ea typeface="Calibri" pitchFamily="34" charset="-122"/>
                <a:cs typeface="Calibri" pitchFamily="34" charset="-120"/>
              </a:rPr>
              <a:t>The Challenge We're Addressing</a:t>
            </a:r>
            <a:endParaRPr lang="en-US" sz="35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00575" y="1059180"/>
            <a:ext cx="488633" cy="488633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04" y="1168909"/>
            <a:ext cx="293180" cy="293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2095" y="1104901"/>
            <a:ext cx="6515100" cy="285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Velocity Problem</a:t>
            </a:r>
            <a:endParaRPr lang="en-US" sz="18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2095" y="1470661"/>
            <a:ext cx="6515100" cy="407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Fake news spreads faster than verified information. Creates information cascades before correction is possible.</a:t>
            </a:r>
            <a:endParaRPr lang="en-US" sz="1300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0575" y="2110740"/>
            <a:ext cx="488633" cy="488633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04" y="2220469"/>
            <a:ext cx="293180" cy="293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2095" y="2156461"/>
            <a:ext cx="6515100" cy="285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Impact Problem</a:t>
            </a:r>
            <a:endParaRPr lang="en-US" sz="1800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32095" y="2522221"/>
            <a:ext cx="6515100" cy="407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Affects critical decisions: elections, health, public safety, economy. Real-world consequences of misinformation.</a:t>
            </a:r>
            <a:endParaRPr lang="en-US" sz="1300" dirty="0">
              <a:latin typeface="+mj-lt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00575" y="3162300"/>
            <a:ext cx="488633" cy="488633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04" y="3272029"/>
            <a:ext cx="293180" cy="293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2095" y="3208021"/>
            <a:ext cx="6515100" cy="285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Tool Gap Problem</a:t>
            </a:r>
            <a:endParaRPr lang="en-US" sz="1800" dirty="0">
              <a:latin typeface="+mj-lt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532095" y="3573781"/>
            <a:ext cx="6515100" cy="407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No unified tool to classify, verify, AND explain misinformation. Existing solutions are fragmented or incomplete.</a:t>
            </a:r>
            <a:endParaRPr lang="en-US" sz="1300" dirty="0">
              <a:latin typeface="+mj-lt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00575" y="4213860"/>
            <a:ext cx="488633" cy="488633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304" y="4323589"/>
            <a:ext cx="293180" cy="293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2095" y="4259581"/>
            <a:ext cx="6515100" cy="285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Scale Problem</a:t>
            </a:r>
            <a:endParaRPr lang="en-US" sz="1800" dirty="0">
              <a:latin typeface="+mj-l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532095" y="4625341"/>
            <a:ext cx="6515100" cy="407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Need for automated, explainable, scalable detection system. Must handle multilingual content in real-time.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We're Building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Classify News Authenticity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AI tool to classify news as Real, Suspicious, or Fake. Provide confidence scores for each classification.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Verification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937760" y="1874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 instant claim verification using trusted APIs. Cross-reference with fact-checking databases.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108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Explainable AI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40080" y="3794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Highlight suspicious phrases and patterns. Show reasoning behind classification decisions.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937760" y="329184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3832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&amp; User-Friendly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937760" y="3794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 multiple languages beyond English. Intuitive interface for all user types.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Natural Language 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Preprocessing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Tokenization, Stopword removal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Lemmatization (spaCy, NLTK)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Language Understanding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Named Entity Recognition (NER)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Dependency Parsing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Part-of-Speech Tagging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Models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846320" y="15544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Transformer Models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532120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BERT, RoBERTa, DistilBERT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Pre-trained on massive text corpora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846320" y="320040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3832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53212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Fine-tuning for classification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Transfer learning optimization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Services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Fact-Checking APIs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Fact Check Tools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PolitiFact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Storage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3520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Database (SQLAlchemy ORM)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 schema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 Technologies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846320" y="15544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916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Framework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53212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Flask / FastAPI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Python-based REST APIs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846320" y="27432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803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53212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HTML, CSS, JavaScript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Responsive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846320" y="39319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0690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 &amp; Deployment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55321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JWT Authentication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Docker containerization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This System Delivers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7280" y="1508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Probability score (0-1) for fake news likelihood with real-time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29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965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Verification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97280" y="2240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Instant verification of factual claims, cross-reference with trusted sources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7614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697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Explainable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97280" y="2971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Highlighted suspicious keywords and phrases with transparent reasoning process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930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429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 Credibility Scoring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097280" y="3703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reliability of information sources with historical accuracy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22452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41605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097280" y="4434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misinformation across languages, expand beyond English-only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Modules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Authentication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194663" y="1522549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Registration and login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JWT-based security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access control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743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84697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194663" y="2802709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upload or URL fetch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 extraction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pipeline initialization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0080" y="3931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0080" y="4069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40233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39" y="4192451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&amp; Feature Extraction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194663" y="4063274"/>
            <a:ext cx="29347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Named Entity Recognition (NER)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Part-of-Speech (POS) tagging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Lemmatization and tokenization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+mj-lt"/>
                <a:ea typeface="Calibri" pitchFamily="34" charset="-122"/>
                <a:cs typeface="Calibri" pitchFamily="34" charset="-120"/>
              </a:rPr>
              <a:t>System Modules</a:t>
            </a:r>
            <a:endParaRPr lang="en-US" sz="40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Classification Module</a:t>
            </a:r>
            <a:endParaRPr lang="en-US" sz="16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20240" y="1645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Transformer-based fake news classifier • Probability score generation • Confidence metrics</a:t>
            </a:r>
            <a:endParaRPr lang="en-US" sz="1100" dirty="0"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Claim Verification</a:t>
            </a:r>
            <a:endParaRPr lang="en-US" sz="1600" dirty="0">
              <a:latin typeface="+mj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920240" y="26060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Fact-checking API integration • Cross-reference with trusted sources • Verification result aggregation</a:t>
            </a:r>
            <a:endParaRPr lang="en-US" sz="1100" dirty="0">
              <a:latin typeface="+mj-l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>
              <a:latin typeface="+mj-lt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337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3291840"/>
            <a:ext cx="3032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Explainability &amp; Visualization</a:t>
            </a:r>
            <a:endParaRPr lang="en-US" sz="1600" dirty="0">
              <a:latin typeface="+mj-lt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920240" y="3566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Suspicious text highlighting • Feature importance display • Result interpretation</a:t>
            </a:r>
            <a:endParaRPr lang="en-US" sz="1100" dirty="0">
              <a:latin typeface="+mj-lt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40080" y="4297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>
              <a:latin typeface="+mj-lt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2976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2024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>
              <a:latin typeface="+mj-lt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920240" y="45262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Manage trusted sources • Monitor system usage • Analytics and reporting</a:t>
            </a:r>
            <a:endParaRPr lang="en-US" sz="11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These Technologies?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0116" y="1188720"/>
            <a:ext cx="4114800" cy="19245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36" y="1874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5956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Transformers?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21676" y="1767839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accuracy (85-95%)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 contextual meaning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Proven performance in misinformation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Transfer learning capabilities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759236" y="11887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556" y="1882503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5075" y="1463040"/>
            <a:ext cx="29289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Fact-Checking APIs?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810796" y="1828800"/>
            <a:ext cx="310242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verification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Reliable, trusted sources (PolitiFact, Google)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claim matching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Continuously updated databases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286000" y="3291839"/>
            <a:ext cx="4572000" cy="1679303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390289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1636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Combined Benefits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641636" y="3703320"/>
            <a:ext cx="3474720" cy="105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than human fact-checking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Infinitely scalable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Explainable &amp; transparent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 improvement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&amp; Our Approach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🎭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Sarcasm &amp; Irony Detection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Challenge: Difficult for AI to understand context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0" y="14401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Approach: Use contextual embeddings, sentiment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35821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Domain-Specific Misinformation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Challenge: Medical, financial jargon requires specialized knowledge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0" y="24003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Approach: Domain-specific fine-tuning, expert-validated datasets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🌍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Low-Resource Languages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801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Challenge: Limited training data for many languages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20640" y="33604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Approach: Multilingual models, transfer learning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⏱️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8016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Delayed Fact-Checking Data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8016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Challenge: New claims take time to be verified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20640" y="43205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Approach: Credibility scoring of sources, historical patterns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7147560" y="1645920"/>
            <a:ext cx="0" cy="36576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86200" y="1371600"/>
            <a:ext cx="1965960" cy="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0" y="1371600"/>
            <a:ext cx="1280160" cy="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828800" cy="54864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Input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(Text/URL)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2860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Preprocessing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Tokenization • Lemmatization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2860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0" y="1097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BERT/RoBERTa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3200400" cy="548640"/>
          </a:xfrm>
          <a:prstGeom prst="rect">
            <a:avLst/>
          </a:prstGeom>
          <a:solidFill>
            <a:srgbClr val="F9A826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Claim Verification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Integration • Source Checking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3657600" cy="54864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Explainability Module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Keyword Highlighting • Feature Importance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28800" y="3108960"/>
            <a:ext cx="50292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Flask Backend + Database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SQLAlchemy ORM • JWT Authentication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0" y="4114800"/>
            <a:ext cx="4114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8600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Output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• Credibility Score • Sources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14600" y="173736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66260" y="274320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43400" y="374904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Architecture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C6B6C3-BC02-9B80-47C7-050B96751180}"/>
              </a:ext>
            </a:extLst>
          </p:cNvPr>
          <p:cNvGrpSpPr/>
          <p:nvPr/>
        </p:nvGrpSpPr>
        <p:grpSpPr>
          <a:xfrm>
            <a:off x="527695" y="1136473"/>
            <a:ext cx="3790573" cy="1585355"/>
            <a:chOff x="640080" y="1346898"/>
            <a:chExt cx="3803005" cy="1195670"/>
          </a:xfrm>
        </p:grpSpPr>
        <p:sp>
          <p:nvSpPr>
            <p:cNvPr id="3" name="Shape 1"/>
            <p:cNvSpPr/>
            <p:nvPr/>
          </p:nvSpPr>
          <p:spPr>
            <a:xfrm>
              <a:off x="640080" y="1346898"/>
              <a:ext cx="3749040" cy="119567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162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1417248"/>
              <a:ext cx="333248" cy="333248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239520" y="1420049"/>
              <a:ext cx="2915920" cy="2155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USERS TABLE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1246358" y="1654294"/>
              <a:ext cx="3196727" cy="88827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user_id (PK)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Username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email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password_hash</a:t>
              </a:r>
              <a:endPara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created_at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Shape 4"/>
          <p:cNvSpPr/>
          <p:nvPr/>
        </p:nvSpPr>
        <p:spPr>
          <a:xfrm>
            <a:off x="4840616" y="452300"/>
            <a:ext cx="3663105" cy="1276127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6895" y="510563"/>
            <a:ext cx="325609" cy="3132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6316" y="518995"/>
            <a:ext cx="2849081" cy="202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ARTICLES TABLE</a:t>
            </a:r>
            <a:endParaRPr lang="en-US" sz="1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26316" y="937362"/>
            <a:ext cx="3337495" cy="60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article_id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user_id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(FK)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url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submission_date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4AF30D-28A7-FC37-5EEA-44974275ED76}"/>
              </a:ext>
            </a:extLst>
          </p:cNvPr>
          <p:cNvGrpSpPr/>
          <p:nvPr/>
        </p:nvGrpSpPr>
        <p:grpSpPr>
          <a:xfrm>
            <a:off x="527696" y="3007529"/>
            <a:ext cx="4042548" cy="1585356"/>
            <a:chOff x="461264" y="2500415"/>
            <a:chExt cx="4015232" cy="1235562"/>
          </a:xfrm>
        </p:grpSpPr>
        <p:sp>
          <p:nvSpPr>
            <p:cNvPr id="11" name="Shape 7"/>
            <p:cNvSpPr/>
            <p:nvPr/>
          </p:nvSpPr>
          <p:spPr>
            <a:xfrm>
              <a:off x="461264" y="2500415"/>
              <a:ext cx="3749040" cy="123556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162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888" y="2562391"/>
              <a:ext cx="333248" cy="333248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1060704" y="2589608"/>
              <a:ext cx="2915919" cy="2155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PROCESSED TEXT TABLE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9"/>
            <p:cNvSpPr/>
            <p:nvPr/>
          </p:nvSpPr>
          <p:spPr>
            <a:xfrm>
              <a:off x="1060704" y="2818786"/>
              <a:ext cx="3415792" cy="82629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processed_id (PK)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article_id</a:t>
              </a: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(FK)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Tokens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lemmatized_text</a:t>
              </a:r>
              <a:endPara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entities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BC0068-0EFB-81C5-63F3-57C79488D0CC}"/>
              </a:ext>
            </a:extLst>
          </p:cNvPr>
          <p:cNvGrpSpPr/>
          <p:nvPr/>
        </p:nvGrpSpPr>
        <p:grpSpPr>
          <a:xfrm>
            <a:off x="4836436" y="2009100"/>
            <a:ext cx="4015232" cy="1206514"/>
            <a:chOff x="5029200" y="2788920"/>
            <a:chExt cx="4015232" cy="1206514"/>
          </a:xfrm>
        </p:grpSpPr>
        <p:sp>
          <p:nvSpPr>
            <p:cNvPr id="15" name="Shape 10"/>
            <p:cNvSpPr/>
            <p:nvPr/>
          </p:nvSpPr>
          <p:spPr>
            <a:xfrm>
              <a:off x="5029200" y="2788920"/>
              <a:ext cx="3749040" cy="120651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162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9380" y="2850896"/>
              <a:ext cx="333248" cy="333248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5628640" y="2874579"/>
              <a:ext cx="2915920" cy="2155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ENTITIES TABLE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2"/>
            <p:cNvSpPr/>
            <p:nvPr/>
          </p:nvSpPr>
          <p:spPr>
            <a:xfrm>
              <a:off x="5628640" y="3114139"/>
              <a:ext cx="3415792" cy="8011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entity_id (PK)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processed_id</a:t>
              </a: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(FK)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entity_text</a:t>
              </a:r>
              <a:endPara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Type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C3E5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confidence_score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Shape 13"/>
          <p:cNvSpPr/>
          <p:nvPr/>
        </p:nvSpPr>
        <p:spPr>
          <a:xfrm>
            <a:off x="4836436" y="3496286"/>
            <a:ext cx="3749040" cy="13169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3060" y="3558262"/>
            <a:ext cx="333248" cy="3332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35876" y="3593669"/>
            <a:ext cx="2915920" cy="215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VERIFICATION RESULTS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502932" y="3807394"/>
            <a:ext cx="3415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result_id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article_id</a:t>
            </a:r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prediction_label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confidence_score</a:t>
            </a:r>
            <a:endParaRPr lang="en-US" sz="1000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fact_check_sources</a:t>
            </a:r>
            <a:endParaRPr lang="en-US" sz="1000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timestamp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+mj-lt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40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71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67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Social Media Integration</a:t>
            </a:r>
            <a:endParaRPr lang="en-US" sz="14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00200" y="1521969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Real-time monitoring of news posts on Twitter, Facebook, Google with automated flagging system</a:t>
            </a:r>
            <a:endParaRPr lang="en-US" sz="1100" dirty="0"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148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045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Advanced Deep Learning</a:t>
            </a:r>
            <a:endParaRPr lang="en-US" sz="1400" dirty="0">
              <a:latin typeface="+mj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600200" y="2299209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LSTM for sequential pattern detection • Multi-modal analysis (text + images) • Improved context understanding</a:t>
            </a:r>
            <a:endParaRPr lang="en-US" sz="1100" dirty="0">
              <a:latin typeface="+mj-l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0080" y="2926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latin typeface="+mj-lt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9260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2822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400" dirty="0">
              <a:latin typeface="+mj-lt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600200" y="3076449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Extend beyond English • Support for major world languages • Cross-lingual verification</a:t>
            </a:r>
            <a:endParaRPr lang="en-US" sz="1100" dirty="0">
              <a:latin typeface="+mj-lt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4008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latin typeface="+mj-lt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7033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3599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00" dirty="0">
              <a:latin typeface="+mj-lt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600200" y="3853689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iOS and Android apps • On-the-go verification • Push notifications for trending news</a:t>
            </a:r>
            <a:endParaRPr lang="en-US" sz="1100" dirty="0">
              <a:latin typeface="+mj-lt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40080" y="4480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latin typeface="+mj-lt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48056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376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Cloud-Scale Infrastructure</a:t>
            </a:r>
            <a:endParaRPr lang="en-US" sz="1400" dirty="0">
              <a:latin typeface="+mj-lt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1600200" y="4630929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+mj-lt"/>
                <a:ea typeface="Calibri" pitchFamily="34" charset="-122"/>
                <a:cs typeface="Calibri" pitchFamily="34" charset="-120"/>
              </a:rPr>
              <a:t>Kubernetes deployment • Load balancing • 99.9% uptime guarantee</a:t>
            </a:r>
            <a:endParaRPr lang="en-US" sz="11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in Action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Section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 news text or paste URL...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114800" cy="914400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FAKE NEWS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Confidence: 87.5% | Risk: 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Suspicious Keywords Detected: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'unverified claims'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'anonymous sources'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'experts say'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6908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828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Verification Results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1148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PolitiFact: False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Fact Check: Debunked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Claim contradicts verified sources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22453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0" y="2382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 Credibility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2702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 Score: 2.1/10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Historical Accuracy: 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Known for misinformation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3525520"/>
            <a:ext cx="4114800" cy="1097280"/>
          </a:xfrm>
          <a:prstGeom prst="rect">
            <a:avLst/>
          </a:prstGeom>
          <a:solidFill>
            <a:srgbClr val="F9A826">
              <a:alpha val="80000"/>
            </a:srgbClr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0" y="3662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</a:t>
            </a:r>
            <a:r>
              <a:rPr lang="en-US" sz="13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13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0" y="3937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4">
                  <a:lumMod val="5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 not share this content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chemeClr val="accent4">
                  <a:lumMod val="5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 alternative sources available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C7881-12CC-05DE-7380-8A876766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22C4BB-52CD-9F2A-186F-EFD4051F9D47}"/>
              </a:ext>
            </a:extLst>
          </p:cNvPr>
          <p:cNvSpPr/>
          <p:nvPr/>
        </p:nvSpPr>
        <p:spPr>
          <a:xfrm>
            <a:off x="457200" y="107188"/>
            <a:ext cx="3925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</a:t>
            </a:r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05B0A8-0E53-15FB-8D72-98BD25A04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92"/>
          <a:stretch>
            <a:fillRect/>
          </a:stretch>
        </p:blipFill>
        <p:spPr>
          <a:xfrm>
            <a:off x="810768" y="807205"/>
            <a:ext cx="6950155" cy="40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72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B85D8-8720-9ECE-20C4-E9BFF1D0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DA1F06-20D0-159B-C085-34C855A0835A}"/>
              </a:ext>
            </a:extLst>
          </p:cNvPr>
          <p:cNvSpPr/>
          <p:nvPr/>
        </p:nvSpPr>
        <p:spPr>
          <a:xfrm>
            <a:off x="457200" y="107188"/>
            <a:ext cx="6138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</a:t>
            </a:r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AI Assistant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765CB-517E-EBCE-5395-699B8B3C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83" y="692583"/>
            <a:ext cx="6827522" cy="437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7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2B120-157A-2049-FDCC-3E37510F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6C8AF9-CFAA-F3D8-58A1-1B6D997951E9}"/>
              </a:ext>
            </a:extLst>
          </p:cNvPr>
          <p:cNvSpPr/>
          <p:nvPr/>
        </p:nvSpPr>
        <p:spPr>
          <a:xfrm>
            <a:off x="457200" y="10718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Login (Admin/Users)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832AD-2BE9-6AB9-71BF-BE9E7C81F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" y="651947"/>
            <a:ext cx="7327392" cy="434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81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0CF16-0F9B-CE04-7C13-6BC1D9DE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905039-8764-2424-1ED4-16CAD10C0516}"/>
              </a:ext>
            </a:extLst>
          </p:cNvPr>
          <p:cNvSpPr/>
          <p:nvPr/>
        </p:nvSpPr>
        <p:spPr>
          <a:xfrm>
            <a:off x="457200" y="107188"/>
            <a:ext cx="501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User’s Dashboard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35550-1EB6-2573-47FE-BF7EA2D18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72378"/>
            <a:ext cx="6949440" cy="423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49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99B99-9A29-7FF3-C130-D38B6D94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85B92-BABF-78A6-2B52-A098A3206743}"/>
              </a:ext>
            </a:extLst>
          </p:cNvPr>
          <p:cNvSpPr/>
          <p:nvPr/>
        </p:nvSpPr>
        <p:spPr>
          <a:xfrm>
            <a:off x="457200" y="10718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Analyze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48FB4-F3F8-02C6-AED9-44C02670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5"/>
          <a:stretch>
            <a:fillRect/>
          </a:stretch>
        </p:blipFill>
        <p:spPr>
          <a:xfrm>
            <a:off x="1219200" y="655828"/>
            <a:ext cx="6705600" cy="407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45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47E47-6F53-3480-C07E-63C87108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B72A6D-D891-7DD9-939C-12C81F8BD6EB}"/>
              </a:ext>
            </a:extLst>
          </p:cNvPr>
          <p:cNvSpPr/>
          <p:nvPr/>
        </p:nvSpPr>
        <p:spPr>
          <a:xfrm>
            <a:off x="457200" y="107188"/>
            <a:ext cx="478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Admin Dashboard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6D412-5A26-B9F4-8B01-44DA97523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5828"/>
            <a:ext cx="7485888" cy="429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11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6A7F0-214A-DCC1-295E-F730E4CB9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8801E6-C848-322C-7D7A-91E8DA229B7E}"/>
              </a:ext>
            </a:extLst>
          </p:cNvPr>
          <p:cNvSpPr/>
          <p:nvPr/>
        </p:nvSpPr>
        <p:spPr>
          <a:xfrm>
            <a:off x="457200" y="107188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Analysis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36AF3-9382-D828-5895-8AB81ADE8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6" y="700504"/>
            <a:ext cx="7363968" cy="42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99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296DB-CE0C-40E6-A1AA-1A35085CC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FA59A0-95B9-9C01-9241-84D0793AA7EB}"/>
              </a:ext>
            </a:extLst>
          </p:cNvPr>
          <p:cNvSpPr/>
          <p:nvPr/>
        </p:nvSpPr>
        <p:spPr>
          <a:xfrm>
            <a:off x="457200" y="107188"/>
            <a:ext cx="443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TruthGuard</a:t>
            </a: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User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FE1E5-E2AD-0A41-2EAD-25665453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7" y="785508"/>
            <a:ext cx="7363966" cy="419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31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89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68" y="118988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5048" y="123560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+mj-lt"/>
                <a:ea typeface="Calibri" pitchFamily="34" charset="-122"/>
                <a:cs typeface="Calibri" pitchFamily="34" charset="-120"/>
              </a:rPr>
              <a:t>Successful Integration</a:t>
            </a:r>
            <a:endParaRPr lang="en-US" sz="18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95048" y="150992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Combines NLP + ML + Web Tech for comprehensive misinformation detection</a:t>
            </a:r>
            <a:endParaRPr lang="en-US" sz="1300" dirty="0">
              <a:latin typeface="+mj-l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68" y="2058566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95048" y="210428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+mj-lt"/>
                <a:ea typeface="Calibri" pitchFamily="34" charset="-122"/>
                <a:cs typeface="Calibri" pitchFamily="34" charset="-120"/>
              </a:rPr>
              <a:t>Accurate &amp; Explainable</a:t>
            </a:r>
            <a:endParaRPr lang="en-US" sz="180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95048" y="237860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High accuracy classification (85-90%) with transparent decision-making process</a:t>
            </a:r>
            <a:endParaRPr lang="en-US" sz="1300" dirty="0">
              <a:latin typeface="+mj-lt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68" y="2927246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95048" y="297296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+mj-lt"/>
                <a:ea typeface="Calibri" pitchFamily="34" charset="-122"/>
                <a:cs typeface="Calibri" pitchFamily="34" charset="-120"/>
              </a:rPr>
              <a:t>Secure &amp; Scalable</a:t>
            </a:r>
            <a:endParaRPr lang="en-US" sz="1800" dirty="0">
              <a:latin typeface="+mj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395048" y="324728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JWT authentication ready for production deployment</a:t>
            </a:r>
            <a:endParaRPr lang="en-US" sz="1300" dirty="0">
              <a:latin typeface="+mj-lt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68" y="3795926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95048" y="384164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+mj-lt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800" dirty="0">
              <a:latin typeface="+mj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395048" y="411596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Builds digital trust and empowers informed decision-making</a:t>
            </a:r>
            <a:endParaRPr lang="en-US" sz="1300" dirty="0">
              <a:latin typeface="+mj-lt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37848" y="439028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+mj-lt"/>
                <a:ea typeface="Calibri" pitchFamily="34" charset="-122"/>
                <a:cs typeface="Calibri" pitchFamily="34" charset="-120"/>
              </a:rPr>
              <a:t>"Building a More Trustworthy Digital Future"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828800" y="2926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Your Email: manikantapeddi24@gmail.com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GitHub: github.com/manikanta-7557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Repository: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to Project Repo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40D7F-F606-03DC-40B0-2DEBF3E6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668ED39-F7CD-E675-E521-559162A3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5EF7883-2092-0D99-4FC4-847AC5B9FC48}"/>
              </a:ext>
            </a:extLst>
          </p:cNvPr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You!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A0DA439-6BCA-2E6E-E72A-A52885CA9349}"/>
              </a:ext>
            </a:extLst>
          </p:cNvPr>
          <p:cNvSpPr/>
          <p:nvPr/>
        </p:nvSpPr>
        <p:spPr>
          <a:xfrm>
            <a:off x="1828800" y="2926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Your Email: manikantapeddi24@gmail.com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GitHub: github.com/manikanta-7557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Repository: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to Project Repo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9E2B87-9509-9213-26CD-605579FD5AEB}"/>
              </a:ext>
            </a:extLst>
          </p:cNvPr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425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081D9-6366-FC1E-7C0C-951456B4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150D00A-D126-C2AB-5EEC-F5FDD24EB22D}"/>
              </a:ext>
            </a:extLst>
          </p:cNvPr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You!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8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1181</Words>
  <Application>Microsoft Office PowerPoint</Application>
  <PresentationFormat>On-screen Show (16:9)</PresentationFormat>
  <Paragraphs>285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&amp; Verification Tool</dc:title>
  <dc:subject>PptxGenJS Presentation</dc:subject>
  <dc:creator>Sister Nivedita University</dc:creator>
  <cp:lastModifiedBy>Manikanta Peddi</cp:lastModifiedBy>
  <cp:revision>5</cp:revision>
  <dcterms:created xsi:type="dcterms:W3CDTF">2026-02-14T18:32:22Z</dcterms:created>
  <dcterms:modified xsi:type="dcterms:W3CDTF">2026-02-16T13:42:46Z</dcterms:modified>
</cp:coreProperties>
</file>